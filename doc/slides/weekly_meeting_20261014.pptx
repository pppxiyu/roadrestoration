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sldIdLst>
    <p:sldId id="278" r:id="rId2"/>
    <p:sldId id="275" r:id="rId3"/>
    <p:sldId id="276" r:id="rId4"/>
    <p:sldId id="277" r:id="rId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7"/>
    </p:embeddedFont>
    <p:embeddedFont>
      <p:font typeface="Frank Ruhl Libre" pitchFamily="2" charset="-79"/>
      <p:regular r:id="rId8"/>
      <p:bold r:id="rId9"/>
    </p:embeddedFont>
    <p:embeddedFont>
      <p:font typeface="Montserrat" pitchFamily="2" charset="77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63"/>
    <p:restoredTop sz="96266"/>
  </p:normalViewPr>
  <p:slideViewPr>
    <p:cSldViewPr snapToGrid="0">
      <p:cViewPr varScale="1">
        <p:scale>
          <a:sx n="161" d="100"/>
          <a:sy n="161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>
            <a:extLst>
              <a:ext uri="{FF2B5EF4-FFF2-40B4-BE49-F238E27FC236}">
                <a16:creationId xmlns:a16="http://schemas.microsoft.com/office/drawing/2014/main" id="{317548E4-72D8-4C10-837B-535477237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587970"/>
            <a:ext cx="4945500" cy="1137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800"/>
              <a:buNone/>
              <a:defRPr sz="4800">
                <a:solidFill>
                  <a:srgbClr val="57068C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>
            <a:extLst>
              <a:ext uri="{FF2B5EF4-FFF2-40B4-BE49-F238E27FC236}">
                <a16:creationId xmlns:a16="http://schemas.microsoft.com/office/drawing/2014/main" id="{58F38DA4-1D07-4695-BD4D-B802FC209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467949"/>
            <a:ext cx="3999900" cy="1807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L="45720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lnSpc>
                <a:spcPct val="125000"/>
              </a:lnSpc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6">
            <a:extLst>
              <a:ext uri="{FF2B5EF4-FFF2-40B4-BE49-F238E27FC236}">
                <a16:creationId xmlns:a16="http://schemas.microsoft.com/office/drawing/2014/main" id="{C9D165CC-2FF2-44B3-B8EE-1670D65F631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619925" y="2467949"/>
            <a:ext cx="3999900" cy="1807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L="45720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lnSpc>
                <a:spcPct val="125000"/>
              </a:lnSpc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43" name="Google Shape;34;p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ln>
            <a:noFill/>
          </a:ln>
        </p:spPr>
      </p:pic>
      <p:sp>
        <p:nvSpPr>
          <p:cNvPr id="35" name="Google Shape;35;p6">
            <a:extLst>
              <a:ext uri="{FF2B5EF4-FFF2-40B4-BE49-F238E27FC236}">
                <a16:creationId xmlns:a16="http://schemas.microsoft.com/office/drawing/2014/main" id="{4F05DFD4-8044-4188-96B5-0183887DE64A}"/>
              </a:ext>
            </a:extLst>
          </p:cNvPr>
          <p:cNvSpPr>
            <a:spLocks noGrp="1"/>
          </p:cNvSpPr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sz="700" b="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‹#›</a:t>
            </a:fld>
            <a:endParaRPr sz="700" b="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Google Shape;36;p6">
            <a:extLst>
              <a:ext uri="{FF2B5EF4-FFF2-40B4-BE49-F238E27FC236}">
                <a16:creationId xmlns:a16="http://schemas.microsoft.com/office/drawing/2014/main" id="{0E621BDC-4A8E-4A48-AF8F-A0891213204C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11700" y="2054620"/>
            <a:ext cx="3999900" cy="411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dk1"/>
                </a:solidFill>
              </a:defRPr>
            </a:lvl1pPr>
            <a:lvl2pPr>
              <a:spcBef>
                <a:spcPts val="1600"/>
              </a:spcBef>
              <a:spcAft>
                <a:spcPts val="0"/>
              </a:spcAft>
              <a:buNone/>
              <a:defRPr/>
            </a:lvl2pPr>
            <a:lvl3pPr>
              <a:spcBef>
                <a:spcPts val="1600"/>
              </a:spcBef>
              <a:spcAft>
                <a:spcPts val="0"/>
              </a:spcAft>
              <a:buNone/>
              <a:defRPr/>
            </a:lvl3pPr>
            <a:lvl4pPr>
              <a:spcBef>
                <a:spcPts val="1600"/>
              </a:spcBef>
              <a:spcAft>
                <a:spcPts val="0"/>
              </a:spcAft>
              <a:buNone/>
              <a:defRPr/>
            </a:lvl4pPr>
            <a:lvl5pPr>
              <a:spcBef>
                <a:spcPts val="1600"/>
              </a:spcBef>
              <a:spcAft>
                <a:spcPts val="0"/>
              </a:spcAft>
              <a:buNone/>
              <a:defRPr/>
            </a:lvl5pPr>
            <a:lvl6pPr>
              <a:spcBef>
                <a:spcPts val="1600"/>
              </a:spcBef>
              <a:spcAft>
                <a:spcPts val="0"/>
              </a:spcAft>
              <a:buNone/>
              <a:defRPr/>
            </a:lvl6pPr>
            <a:lvl7pPr>
              <a:spcBef>
                <a:spcPts val="1600"/>
              </a:spcBef>
              <a:spcAft>
                <a:spcPts val="0"/>
              </a:spcAft>
              <a:buNone/>
              <a:defRPr/>
            </a:lvl7pPr>
            <a:lvl8pPr>
              <a:spcBef>
                <a:spcPts val="1600"/>
              </a:spcBef>
              <a:spcAft>
                <a:spcPts val="0"/>
              </a:spcAft>
              <a:buNone/>
              <a:defRPr/>
            </a:lvl8pPr>
            <a:lvl9pPr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>
            <a:extLst>
              <a:ext uri="{FF2B5EF4-FFF2-40B4-BE49-F238E27FC236}">
                <a16:creationId xmlns:a16="http://schemas.microsoft.com/office/drawing/2014/main" id="{55CE5AB5-2AA1-495F-8628-D9BB5CAEAD0F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4619925" y="2054620"/>
            <a:ext cx="3999900" cy="411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chemeClr val="dk1"/>
                </a:solidFill>
              </a:defRPr>
            </a:lvl1pPr>
            <a:lvl2pPr>
              <a:spcBef>
                <a:spcPts val="1600"/>
              </a:spcBef>
              <a:spcAft>
                <a:spcPts val="0"/>
              </a:spcAft>
              <a:buNone/>
              <a:defRPr/>
            </a:lvl2pPr>
            <a:lvl3pPr>
              <a:spcBef>
                <a:spcPts val="1600"/>
              </a:spcBef>
              <a:spcAft>
                <a:spcPts val="0"/>
              </a:spcAft>
              <a:buNone/>
              <a:defRPr/>
            </a:lvl3pPr>
            <a:lvl4pPr>
              <a:spcBef>
                <a:spcPts val="1600"/>
              </a:spcBef>
              <a:spcAft>
                <a:spcPts val="0"/>
              </a:spcAft>
              <a:buNone/>
              <a:defRPr/>
            </a:lvl4pPr>
            <a:lvl5pPr>
              <a:spcBef>
                <a:spcPts val="1600"/>
              </a:spcBef>
              <a:spcAft>
                <a:spcPts val="0"/>
              </a:spcAft>
              <a:buNone/>
              <a:defRPr/>
            </a:lvl5pPr>
            <a:lvl6pPr>
              <a:spcBef>
                <a:spcPts val="1600"/>
              </a:spcBef>
              <a:spcAft>
                <a:spcPts val="0"/>
              </a:spcAft>
              <a:buNone/>
              <a:defRPr/>
            </a:lvl6pPr>
            <a:lvl7pPr>
              <a:spcBef>
                <a:spcPts val="1600"/>
              </a:spcBef>
              <a:spcAft>
                <a:spcPts val="0"/>
              </a:spcAft>
              <a:buNone/>
              <a:defRPr/>
            </a:lvl7pPr>
            <a:lvl8pPr>
              <a:spcBef>
                <a:spcPts val="1600"/>
              </a:spcBef>
              <a:spcAft>
                <a:spcPts val="0"/>
              </a:spcAft>
              <a:buNone/>
              <a:defRPr/>
            </a:lvl8pPr>
            <a:lvl9pPr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7" name="Google Shape;38;p6"/>
          <p:cNvPicPr>
            <a:picLocks noChangeAspect="1"/>
          </p:cNvPicPr>
          <p:nvPr/>
        </p:nvPicPr>
        <p:blipFill rotWithShape="1">
          <a:blip r:embed="rId3">
            <a:alphaModFix/>
          </a:blip>
          <a:srcRect t="29770"/>
          <a:stretch/>
        </p:blipFill>
        <p:spPr>
          <a:xfrm>
            <a:off x="0" y="1"/>
            <a:ext cx="9144003" cy="263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70D0815C-BC8C-4C7F-A00D-D7B5D9CCA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688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Frank Ruhl Libre"/>
              <a:buNone/>
              <a:defRPr sz="3600" b="1">
                <a:solidFill>
                  <a:srgbClr val="57068C"/>
                </a:solidFill>
                <a:latin typeface="Frank Ruhl Libre"/>
                <a:ea typeface="Frank Ruhl Libre"/>
                <a:cs typeface="Frank Ruhl Libre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D288D575-293F-476A-A573-D3045C43B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1pPr>
            <a:lvl2pPr marL="9144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2pPr>
            <a:lvl3pPr marL="13716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3pPr>
            <a:lvl4pPr marL="18288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4pPr>
            <a:lvl5pPr marL="22860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5pPr>
            <a:lvl6pPr marL="27432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6pPr>
            <a:lvl7pPr marL="32004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7pPr>
            <a:lvl8pPr marL="36576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8pPr>
            <a:lvl9pPr marL="4114800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10.png"/><Relationship Id="rId4" Type="http://schemas.openxmlformats.org/officeDocument/2006/relationships/image" Target="../media/image40.png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ference_strategy_label"/>
          <p:cNvSpPr txBox="1"/>
          <p:nvPr/>
        </p:nvSpPr>
        <p:spPr>
          <a:xfrm>
            <a:off x="297830" y="96764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0" dirty="0">
                <a:solidFill>
                  <a:srgbClr val="57068C"/>
                </a:solidFill>
                <a:latin typeface="Montserrat"/>
              </a:rPr>
              <a:t>Undamaged reference network</a:t>
            </a:r>
            <a:endParaRPr sz="1200" b="0" dirty="0">
              <a:solidFill>
                <a:srgbClr val="57068C"/>
              </a:solidFill>
              <a:latin typeface="Montserra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ference_simulation"/>
              <p:cNvSpPr txBox="1"/>
              <p:nvPr/>
            </p:nvSpPr>
            <p:spPr>
              <a:xfrm>
                <a:off x="133238" y="1443136"/>
                <a:ext cx="2578608" cy="4023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sz="2000">
                          <a:solidFill>
                            <a:srgbClr val="57068C"/>
                          </a:solidFill>
                          <a:latin typeface="Cambria Math"/>
                        </a:rPr>
                        <m:t>sim</m:t>
                      </m:r>
                      <m:r>
                        <a:rPr sz="2000">
                          <a:solidFill>
                            <a:srgbClr val="57068C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pPr>
                        <m:e>
                          <m: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𝑅</m:t>
                          </m:r>
                        </m:e>
                        <m:sup>
                          <m: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𝑛𝑜𝑟𝑚𝑎𝑙</m:t>
                          </m:r>
                        </m:sup>
                      </m:sSup>
                      <m:r>
                        <a:rPr sz="2000">
                          <a:solidFill>
                            <a:srgbClr val="57068C"/>
                          </a:solidFill>
                          <a:latin typeface="Cambria Math"/>
                        </a:rPr>
                        <m:t>, </m:t>
                      </m:r>
                      <m:sSubSup>
                        <m:sSubSupPr>
                          <m:ctrlP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sz="20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external</m:t>
                          </m:r>
                        </m:sup>
                      </m:sSubSup>
                      <m:r>
                        <a:rPr sz="2000">
                          <a:solidFill>
                            <a:srgbClr val="57068C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3" name="reference_simul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38" y="1443136"/>
                <a:ext cx="2578608" cy="402336"/>
              </a:xfrm>
              <a:prstGeom prst="rect">
                <a:avLst/>
              </a:prstGeom>
              <a:blipFill>
                <a:blip r:embed="rId3"/>
                <a:stretch>
                  <a:fillRect l="-2600" r="-1182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onnector 3"/>
          <p:cNvCxnSpPr/>
          <p:nvPr/>
        </p:nvCxnSpPr>
        <p:spPr>
          <a:xfrm>
            <a:off x="2766710" y="1648638"/>
            <a:ext cx="128016" cy="0"/>
          </a:xfrm>
          <a:prstGeom prst="line">
            <a:avLst/>
          </a:prstGeom>
          <a:ln w="15875">
            <a:solidFill>
              <a:srgbClr val="5706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ference_cost"/>
              <p:cNvSpPr txBox="1"/>
              <p:nvPr/>
            </p:nvSpPr>
            <p:spPr>
              <a:xfrm>
                <a:off x="2931302" y="1429182"/>
                <a:ext cx="749808" cy="42062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  <m:sup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𝑟𝑒𝑓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ference_cos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1302" y="1429182"/>
                <a:ext cx="749808" cy="4206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206390" y="2366680"/>
            <a:ext cx="25603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2E6EA6"/>
                </a:solidFill>
                <a:latin typeface="Montserrat"/>
              </a:rPr>
              <a:t>Actual network + candidate repair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4186" y="2751737"/>
                <a:ext cx="2459648" cy="372410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sz="2200">
                          <a:solidFill>
                            <a:srgbClr val="2E6EA6"/>
                          </a:solidFill>
                          <a:latin typeface="Cambria Math"/>
                        </a:rPr>
                        <m:t>sim</m:t>
                      </m:r>
                      <m:r>
                        <a:rPr sz="2200">
                          <a:solidFill>
                            <a:srgbClr val="2E6EA6"/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−1</m:t>
                          </m:r>
                        </m:sub>
                      </m:sSub>
                      <m:r>
                        <a:rPr sz="2200">
                          <a:solidFill>
                            <a:srgbClr val="2E6EA6"/>
                          </a:solidFill>
                          <a:latin typeface="Cambria Math"/>
                        </a:rPr>
                        <m:t>∪{</m:t>
                      </m:r>
                      <m:sSub>
                        <m:sSubPr>
                          <m:ctrlP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sz="2200">
                          <a:solidFill>
                            <a:srgbClr val="2E6EA6"/>
                          </a:solidFill>
                          <a:latin typeface="Cambria Math"/>
                        </a:rPr>
                        <m:t>}, </m:t>
                      </m:r>
                      <m:sSub>
                        <m:sSubPr>
                          <m:ctrlP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sz="2200">
                          <a:solidFill>
                            <a:srgbClr val="2E6EA6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86" y="2751737"/>
                <a:ext cx="2459648" cy="372410"/>
              </a:xfrm>
              <a:prstGeom prst="rect">
                <a:avLst/>
              </a:prstGeom>
              <a:blipFill>
                <a:blip r:embed="rId5"/>
                <a:stretch>
                  <a:fillRect l="-3474" r="-1985" b="-27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nector 7"/>
          <p:cNvCxnSpPr/>
          <p:nvPr/>
        </p:nvCxnSpPr>
        <p:spPr>
          <a:xfrm>
            <a:off x="2766710" y="2947086"/>
            <a:ext cx="177800" cy="0"/>
          </a:xfrm>
          <a:prstGeom prst="line">
            <a:avLst/>
          </a:prstGeom>
          <a:ln w="15875">
            <a:solidFill>
              <a:srgbClr val="2E6EA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982610" y="2727630"/>
                <a:ext cx="571500" cy="42062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sz="2200">
                              <a:solidFill>
                                <a:srgbClr val="2E6EA6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610" y="2727630"/>
                <a:ext cx="571500" cy="420624"/>
              </a:xfrm>
              <a:prstGeom prst="rect">
                <a:avLst/>
              </a:prstGeom>
              <a:blipFill>
                <a:blip r:embed="rId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909710" y="2078406"/>
                <a:ext cx="777240" cy="42062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  <m:t>𝛥</m:t>
                          </m:r>
                          <m: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9710" y="2078406"/>
                <a:ext cx="777240" cy="4206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onnector 11"/>
          <p:cNvCxnSpPr/>
          <p:nvPr/>
        </p:nvCxnSpPr>
        <p:spPr>
          <a:xfrm>
            <a:off x="3699397" y="1685214"/>
            <a:ext cx="329185" cy="374903"/>
          </a:xfrm>
          <a:prstGeom prst="line">
            <a:avLst/>
          </a:prstGeom>
          <a:ln w="15875">
            <a:solidFill>
              <a:srgbClr val="5706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589670" y="2553894"/>
            <a:ext cx="438912" cy="365760"/>
          </a:xfrm>
          <a:prstGeom prst="line">
            <a:avLst/>
          </a:prstGeom>
          <a:ln w="15875">
            <a:solidFill>
              <a:srgbClr val="2E6EA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xternal_od_reference_label"/>
          <p:cNvSpPr txBox="1"/>
          <p:nvPr/>
        </p:nvSpPr>
        <p:spPr>
          <a:xfrm>
            <a:off x="4366910" y="812200"/>
            <a:ext cx="379476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57068C"/>
                </a:solidFill>
                <a:latin typeface="Montserrat"/>
              </a:rPr>
              <a:t>External OD without road damage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668662" y="1045134"/>
                <a:ext cx="2761488" cy="42062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external</m:t>
                          </m:r>
                        </m:sup>
                      </m:sSubSup>
                      <m:r>
                        <a:rPr sz="2200">
                          <a:solidFill>
                            <a:srgbClr val="57068C"/>
                          </a:solidFill>
                          <a:latin typeface="Cambria Math"/>
                        </a:rPr>
                        <m:t> = </m:t>
                      </m:r>
                      <m:sSup>
                        <m:sSupPr>
                          <m:ctrlP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pPr>
                        <m:e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𝑞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normal</m:t>
                          </m:r>
                        </m:sup>
                      </m:sSup>
                      <m:sSub>
                        <m:sSubPr>
                          <m:ctrlP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sz="220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662" y="1045134"/>
                <a:ext cx="2761488" cy="42062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or 15"/>
          <p:cNvCxnSpPr>
            <a:cxnSpLocks/>
          </p:cNvCxnSpPr>
          <p:nvPr/>
        </p:nvCxnSpPr>
        <p:spPr>
          <a:xfrm flipH="1">
            <a:off x="1966610" y="1264590"/>
            <a:ext cx="2665476" cy="0"/>
          </a:xfrm>
          <a:prstGeom prst="line">
            <a:avLst/>
          </a:prstGeom>
          <a:ln w="15875">
            <a:solidFill>
              <a:srgbClr val="5706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65472" y="1264590"/>
            <a:ext cx="0" cy="146304"/>
          </a:xfrm>
          <a:prstGeom prst="line">
            <a:avLst/>
          </a:prstGeom>
          <a:ln w="15875">
            <a:solidFill>
              <a:srgbClr val="5706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53878" y="1502334"/>
            <a:ext cx="0" cy="530352"/>
          </a:xfrm>
          <a:prstGeom prst="line">
            <a:avLst/>
          </a:prstGeom>
          <a:ln w="15875">
            <a:solidFill>
              <a:srgbClr val="57068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4998172" y="2123397"/>
                <a:ext cx="2742546" cy="36721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external</m:t>
                          </m:r>
                        </m:sup>
                      </m:sSubSup>
                      <m:r>
                        <a:rPr sz="1870">
                          <a:solidFill>
                            <a:srgbClr val="57068C"/>
                          </a:solidFill>
                          <a:latin typeface="Cambria Math"/>
                        </a:rPr>
                        <m:t> · </m:t>
                      </m:r>
                      <m:r>
                        <m:rPr>
                          <m:sty m:val="p"/>
                        </m:rPr>
                        <a:rPr sz="1870">
                          <a:solidFill>
                            <a:srgbClr val="57068C"/>
                          </a:solidFill>
                          <a:latin typeface="Cambria Math"/>
                        </a:rPr>
                        <m:t>exp</m:t>
                      </m:r>
                      <m:r>
                        <a:rPr sz="1870">
                          <a:solidFill>
                            <a:srgbClr val="57068C"/>
                          </a:solidFill>
                          <a:latin typeface="Cambria Math"/>
                        </a:rPr>
                        <m:t>(−</m:t>
                      </m:r>
                      <m:sSubSup>
                        <m:sSubSupPr>
                          <m:ctrlPr>
                            <a:rPr lang="en-US" sz="1870" b="1" i="1" smtClean="0">
                              <a:solidFill>
                                <a:srgbClr val="E97300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1870" b="1" i="1" smtClean="0">
                              <a:solidFill>
                                <a:srgbClr val="E97300"/>
                              </a:solidFill>
                              <a:latin typeface="Cambria Math"/>
                            </a:rPr>
                            <m:t>𝜸</m:t>
                          </m:r>
                        </m:e>
                        <m:sub>
                          <m:r>
                            <a:rPr lang="en-US" sz="1870" b="1" i="1" smtClean="0">
                              <a:solidFill>
                                <a:srgbClr val="E97300"/>
                              </a:solidFill>
                              <a:latin typeface="Cambria Math"/>
                            </a:rPr>
                            <m:t>𝒐𝒅</m:t>
                          </m:r>
                          <m:r>
                            <a:rPr lang="en-US" sz="1870" b="1" i="1" smtClean="0">
                              <a:solidFill>
                                <a:srgbClr val="E97300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1870" b="1" i="1" smtClean="0">
                              <a:solidFill>
                                <a:srgbClr val="E97300"/>
                              </a:solidFill>
                              <a:latin typeface="Cambria Math"/>
                            </a:rPr>
                            <m:t>𝒕</m:t>
                          </m:r>
                        </m:sub>
                        <m:sup>
                          <m:r>
                            <a:rPr lang="en-US" sz="1870" b="1" i="1" smtClean="0">
                              <a:solidFill>
                                <a:srgbClr val="E97300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𝛥</m:t>
                          </m:r>
                          <m: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𝑐</m:t>
                          </m:r>
                        </m:e>
                        <m:sub>
                          <m:r>
                            <a:rPr sz="187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sz="1870">
                          <a:solidFill>
                            <a:srgbClr val="57068C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8172" y="2123397"/>
                <a:ext cx="2742546" cy="367216"/>
              </a:xfrm>
              <a:prstGeom prst="rect">
                <a:avLst/>
              </a:prstGeom>
              <a:blipFill>
                <a:blip r:embed="rId9"/>
                <a:stretch>
                  <a:fillRect l="-2889" r="-2000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/>
          <p:cNvSpPr txBox="1"/>
          <p:nvPr/>
        </p:nvSpPr>
        <p:spPr>
          <a:xfrm>
            <a:off x="5599043" y="2632443"/>
            <a:ext cx="1330493" cy="19037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dirty="0">
                <a:solidFill>
                  <a:srgbClr val="57068C"/>
                </a:solidFill>
                <a:latin typeface="Montserrat"/>
              </a:rPr>
              <a:t>Human</a:t>
            </a:r>
            <a:r>
              <a:rPr sz="1200" b="0" dirty="0">
                <a:solidFill>
                  <a:srgbClr val="57068C"/>
                </a:solidFill>
                <a:latin typeface="Montserrat"/>
              </a:rPr>
              <a:t> response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05238" y="2316150"/>
            <a:ext cx="173736" cy="0"/>
          </a:xfrm>
          <a:prstGeom prst="line">
            <a:avLst/>
          </a:prstGeom>
          <a:ln w="15875">
            <a:solidFill>
              <a:srgbClr val="27233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023066" y="1895527"/>
            <a:ext cx="100584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25B6D"/>
                </a:solidFill>
                <a:latin typeface="Montserrat"/>
              </a:rPr>
              <a:t>Adjusted 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8271398" y="2078406"/>
                <a:ext cx="530352" cy="42062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>
                  <a:lnSpc>
                    <a:spcPct val="11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sz="2200">
                              <a:solidFill>
                                <a:srgbClr val="272333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398" y="2078406"/>
                <a:ext cx="530352" cy="420624"/>
              </a:xfrm>
              <a:prstGeom prst="rect">
                <a:avLst/>
              </a:prstGeom>
              <a:blipFill>
                <a:blip r:embed="rId10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ctor 23"/>
          <p:cNvCxnSpPr/>
          <p:nvPr/>
        </p:nvCxnSpPr>
        <p:spPr>
          <a:xfrm>
            <a:off x="7841630" y="2316150"/>
            <a:ext cx="374904" cy="0"/>
          </a:xfrm>
          <a:prstGeom prst="line">
            <a:avLst/>
          </a:prstGeom>
          <a:ln w="15875">
            <a:solidFill>
              <a:srgbClr val="272333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cxnSpLocks/>
          </p:cNvCxnSpPr>
          <p:nvPr/>
        </p:nvCxnSpPr>
        <p:spPr>
          <a:xfrm>
            <a:off x="8344550" y="2549322"/>
            <a:ext cx="0" cy="1020230"/>
          </a:xfrm>
          <a:prstGeom prst="line">
            <a:avLst/>
          </a:prstGeom>
          <a:ln w="15875">
            <a:solidFill>
              <a:srgbClr val="2E6E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422542" y="3569552"/>
            <a:ext cx="6922008" cy="0"/>
          </a:xfrm>
          <a:prstGeom prst="line">
            <a:avLst/>
          </a:prstGeom>
          <a:ln w="15875">
            <a:solidFill>
              <a:srgbClr val="2E6E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cxnSpLocks/>
          </p:cNvCxnSpPr>
          <p:nvPr/>
        </p:nvCxnSpPr>
        <p:spPr>
          <a:xfrm flipV="1">
            <a:off x="1422542" y="3197022"/>
            <a:ext cx="0" cy="372530"/>
          </a:xfrm>
          <a:prstGeom prst="line">
            <a:avLst/>
          </a:prstGeom>
          <a:ln w="15875">
            <a:solidFill>
              <a:srgbClr val="2E6EA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218070" y="3290224"/>
            <a:ext cx="50292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2E6EA6"/>
                </a:solidFill>
                <a:latin typeface="Montserrat"/>
              </a:rPr>
              <a:t>Update congestion and OD until fixed-point convergence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02EDAF50-D4D8-52A4-61E3-EA3668BA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238" y="308721"/>
            <a:ext cx="2307350" cy="516930"/>
          </a:xfrm>
        </p:spPr>
        <p:txBody>
          <a:bodyPr/>
          <a:lstStyle/>
          <a:p>
            <a:r>
              <a:rPr lang="en-US" altLang="zh-CN" sz="2500" dirty="0"/>
              <a:t>Formulation</a:t>
            </a:r>
            <a:endParaRPr lang="en-US" sz="2500" dirty="0"/>
          </a:p>
        </p:txBody>
      </p:sp>
      <p:sp>
        <p:nvSpPr>
          <p:cNvPr id="10" name="fixed_point_equation">
            <a:extLst>
              <a:ext uri="{FF2B5EF4-FFF2-40B4-BE49-F238E27FC236}">
                <a16:creationId xmlns:a16="http://schemas.microsoft.com/office/drawing/2014/main" id="{6813A004-EE78-6DA8-67D9-4797057C0A44}"/>
              </a:ext>
            </a:extLst>
          </p:cNvPr>
          <p:cNvSpPr txBox="1"/>
          <p:nvPr/>
        </p:nvSpPr>
        <p:spPr>
          <a:xfrm>
            <a:off x="2013551" y="4122255"/>
            <a:ext cx="5557110" cy="2794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r>
              <a:rPr lang="en-US" dirty="0">
                <a:solidFill>
                  <a:srgbClr val="660099"/>
                </a:solidFill>
                <a:latin typeface="Cambria Math" panose="02040503050406030204" pitchFamily="18" charset="0"/>
              </a:rPr>
              <a:t>𝑞ₜ = 𝑞ₜᵉˣᵗᵉʳⁿᵃˡ + Hₜ + wₜ</a:t>
            </a:r>
            <a:r>
              <a:rPr lang="el-GR" dirty="0">
                <a:solidFill>
                  <a:srgbClr val="660099"/>
                </a:solidFill>
                <a:latin typeface="Cambria Math" panose="02040503050406030204" pitchFamily="18" charset="0"/>
              </a:rPr>
              <a:t> 𝑞</a:t>
            </a:r>
            <a:r>
              <a:rPr lang="en-US" dirty="0">
                <a:solidFill>
                  <a:srgbClr val="660099"/>
                </a:solidFill>
                <a:latin typeface="Cambria Math" panose="02040503050406030204" pitchFamily="18" charset="0"/>
              </a:rPr>
              <a:t>ₜᵉˣᵗᵉʳⁿᵃˡ · [exp(−</a:t>
            </a:r>
            <a:r>
              <a:rPr lang="en-US" b="1" dirty="0">
                <a:solidFill>
                  <a:srgbClr val="E97300"/>
                </a:solidFill>
                <a:latin typeface="Cambria Math" panose="02040503050406030204" pitchFamily="18" charset="0"/>
              </a:rPr>
              <a:t>𝛾′</a:t>
            </a:r>
            <a:r>
              <a:rPr lang="en-US" sz="1600" b="1" i="1" baseline="-25000" dirty="0">
                <a:solidFill>
                  <a:srgbClr val="E97300"/>
                </a:solidFill>
                <a:latin typeface="Cambria Math" panose="02040503050406030204" pitchFamily="18" charset="0"/>
              </a:rPr>
              <a:t>od,t</a:t>
            </a:r>
            <a:r>
              <a:rPr lang="en-US" b="1" dirty="0">
                <a:solidFill>
                  <a:srgbClr val="660099"/>
                </a:solidFill>
                <a:latin typeface="Cambria Math" panose="02040503050406030204" pitchFamily="18" charset="0"/>
              </a:rPr>
              <a:t> </a:t>
            </a:r>
            <a:r>
              <a:rPr lang="el-GR" dirty="0">
                <a:solidFill>
                  <a:srgbClr val="660099"/>
                </a:solidFill>
                <a:latin typeface="Cambria Math" panose="02040503050406030204" pitchFamily="18" charset="0"/>
              </a:rPr>
              <a:t>Δ𝑐</a:t>
            </a:r>
            <a:r>
              <a:rPr lang="en-US" dirty="0">
                <a:solidFill>
                  <a:srgbClr val="660099"/>
                </a:solidFill>
                <a:latin typeface="Cambria Math" panose="02040503050406030204" pitchFamily="18" charset="0"/>
              </a:rPr>
              <a:t>ₜ(𝑞ₜ)) − 1]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237" y="308721"/>
            <a:ext cx="7351779" cy="516930"/>
          </a:xfrm>
        </p:spPr>
        <p:txBody>
          <a:bodyPr/>
          <a:lstStyle/>
          <a:p>
            <a:r>
              <a:rPr lang="en-US" sz="2500" dirty="0"/>
              <a:t>POIs</a:t>
            </a:r>
            <a:r>
              <a:rPr sz="2500" dirty="0"/>
              <a:t> around OD nodes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581912" cy="18519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1751" y="3008376"/>
            <a:ext cx="1527048" cy="274320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pPr algn="l"/>
            <a:r>
              <a:rPr sz="1200" b="1">
                <a:solidFill>
                  <a:srgbClr val="5A3184"/>
                </a:solidFill>
                <a:latin typeface="Montserrat"/>
              </a:rPr>
              <a:t>Commercial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1" y="3328416"/>
            <a:ext cx="1527048" cy="557784"/>
          </a:xfrm>
          <a:prstGeom prst="rect">
            <a:avLst/>
          </a:prstGeom>
          <a:noFill/>
        </p:spPr>
        <p:txBody>
          <a:bodyPr wrap="square" lIns="13716" tIns="0" rIns="13716" bIns="0" anchor="t">
            <a:spAutoFit/>
          </a:bodyPr>
          <a:lstStyle/>
          <a:p>
            <a:pPr algn="l"/>
            <a:r>
              <a:rPr sz="950" b="0" dirty="0">
                <a:solidFill>
                  <a:srgbClr val="625B6D"/>
                </a:solidFill>
                <a:latin typeface="Montserrat"/>
              </a:rPr>
              <a:t>Shops, offices, craft services, banks and markets.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543" y="1005840"/>
            <a:ext cx="1581912" cy="18519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93975" y="3008376"/>
            <a:ext cx="1527048" cy="274320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pPr algn="l"/>
            <a:r>
              <a:rPr sz="1200" b="1">
                <a:solidFill>
                  <a:srgbClr val="5A3184"/>
                </a:solidFill>
                <a:latin typeface="Montserrat"/>
              </a:rPr>
              <a:t>Leisure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3975" y="3328416"/>
            <a:ext cx="1527048" cy="557784"/>
          </a:xfrm>
          <a:prstGeom prst="rect">
            <a:avLst/>
          </a:prstGeom>
          <a:noFill/>
        </p:spPr>
        <p:txBody>
          <a:bodyPr wrap="square" lIns="13716" tIns="0" rIns="13716" bIns="0" anchor="t">
            <a:spAutoFit/>
          </a:bodyPr>
          <a:lstStyle/>
          <a:p>
            <a:pPr algn="l"/>
            <a:r>
              <a:rPr sz="950" b="0">
                <a:solidFill>
                  <a:srgbClr val="625B6D"/>
                </a:solidFill>
                <a:latin typeface="Montserrat"/>
              </a:rPr>
              <a:t>Dining, lodging, arts, sports and recreation.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768" y="1005840"/>
            <a:ext cx="1581912" cy="185199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86200" y="3008376"/>
            <a:ext cx="1527048" cy="274320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pPr algn="l"/>
            <a:r>
              <a:rPr sz="1200" b="1">
                <a:solidFill>
                  <a:srgbClr val="5A3184"/>
                </a:solidFill>
                <a:latin typeface="Montserrat"/>
              </a:rPr>
              <a:t>Industrial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28416"/>
            <a:ext cx="1527048" cy="557784"/>
          </a:xfrm>
          <a:prstGeom prst="rect">
            <a:avLst/>
          </a:prstGeom>
          <a:noFill/>
        </p:spPr>
        <p:txBody>
          <a:bodyPr wrap="square" lIns="13716" tIns="0" rIns="13716" bIns="0" anchor="t">
            <a:spAutoFit/>
          </a:bodyPr>
          <a:lstStyle/>
          <a:p>
            <a:pPr algn="l"/>
            <a:r>
              <a:rPr sz="950" b="0">
                <a:solidFill>
                  <a:srgbClr val="625B6D"/>
                </a:solidFill>
                <a:latin typeface="Montserrat"/>
              </a:rPr>
              <a:t>Industrial facilities and warehouses; no land-use polygons.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992" y="1005840"/>
            <a:ext cx="1581912" cy="18519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8424" y="3008376"/>
            <a:ext cx="1527048" cy="274320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pPr algn="l"/>
            <a:r>
              <a:rPr sz="1200" b="1">
                <a:solidFill>
                  <a:srgbClr val="5A3184"/>
                </a:solidFill>
                <a:latin typeface="Montserrat"/>
              </a:rPr>
              <a:t>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78424" y="3328416"/>
            <a:ext cx="1527048" cy="557784"/>
          </a:xfrm>
          <a:prstGeom prst="rect">
            <a:avLst/>
          </a:prstGeom>
          <a:noFill/>
        </p:spPr>
        <p:txBody>
          <a:bodyPr wrap="square" lIns="13716" tIns="0" rIns="13716" bIns="0" anchor="t">
            <a:spAutoFit/>
          </a:bodyPr>
          <a:lstStyle/>
          <a:p>
            <a:pPr algn="l"/>
            <a:r>
              <a:rPr sz="950" b="0">
                <a:solidFill>
                  <a:srgbClr val="625B6D"/>
                </a:solidFill>
                <a:latin typeface="Montserrat"/>
              </a:rPr>
              <a:t>Medical, pharmacy and social-care facilities.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6" y="1005840"/>
            <a:ext cx="1581912" cy="18519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70648" y="3008376"/>
            <a:ext cx="1527048" cy="274320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pPr algn="l"/>
            <a:r>
              <a:rPr sz="1200" b="1">
                <a:solidFill>
                  <a:srgbClr val="5A3184"/>
                </a:solidFill>
                <a:latin typeface="Montserrat"/>
              </a:rPr>
              <a:t>Public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3328416"/>
            <a:ext cx="1527048" cy="557784"/>
          </a:xfrm>
          <a:prstGeom prst="rect">
            <a:avLst/>
          </a:prstGeom>
          <a:noFill/>
        </p:spPr>
        <p:txBody>
          <a:bodyPr wrap="square" lIns="13716" tIns="0" rIns="13716" bIns="0" anchor="t">
            <a:spAutoFit/>
          </a:bodyPr>
          <a:lstStyle/>
          <a:p>
            <a:pPr algn="l"/>
            <a:r>
              <a:rPr sz="950" b="0" dirty="0">
                <a:solidFill>
                  <a:srgbClr val="625B6D"/>
                </a:solidFill>
                <a:latin typeface="Montserrat"/>
              </a:rPr>
              <a:t>Schools, libraries, government and public-safety services.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9747" y="4090719"/>
            <a:ext cx="7046608" cy="438582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r>
              <a:rPr sz="950" b="1" dirty="0">
                <a:solidFill>
                  <a:srgbClr val="625B6D"/>
                </a:solidFill>
                <a:latin typeface="Montserrat"/>
              </a:rPr>
              <a:t>Boundary: </a:t>
            </a:r>
            <a:r>
              <a:rPr sz="950" dirty="0">
                <a:solidFill>
                  <a:srgbClr val="625B6D"/>
                </a:solidFill>
                <a:latin typeface="Montserrat"/>
              </a:rPr>
              <a:t>24 nearest-node areas inside a 1.25-km buffered node hull, clipped to Sioux Falls city limits.</a:t>
            </a:r>
            <a:endParaRPr lang="en-US" sz="950" dirty="0">
              <a:solidFill>
                <a:srgbClr val="625B6D"/>
              </a:solidFill>
              <a:latin typeface="Montserrat"/>
            </a:endParaRPr>
          </a:p>
          <a:p>
            <a:r>
              <a:rPr lang="en-US" sz="950" b="1" dirty="0">
                <a:solidFill>
                  <a:srgbClr val="625B6D"/>
                </a:solidFill>
                <a:latin typeface="Montserrat"/>
              </a:rPr>
              <a:t>Orange: </a:t>
            </a:r>
            <a:r>
              <a:rPr lang="en-US" sz="950" dirty="0">
                <a:solidFill>
                  <a:srgbClr val="625B6D"/>
                </a:solidFill>
                <a:latin typeface="Montserrat"/>
              </a:rPr>
              <a:t>OpenStreetMap places. </a:t>
            </a:r>
            <a:r>
              <a:rPr lang="en-US" sz="950" b="1" dirty="0">
                <a:solidFill>
                  <a:srgbClr val="625B6D"/>
                </a:solidFill>
                <a:latin typeface="Montserrat"/>
              </a:rPr>
              <a:t>White circles: </a:t>
            </a:r>
            <a:r>
              <a:rPr lang="en-US" sz="950" dirty="0">
                <a:solidFill>
                  <a:srgbClr val="625B6D"/>
                </a:solidFill>
                <a:latin typeface="Montserrat"/>
              </a:rPr>
              <a:t>OD nodes. </a:t>
            </a:r>
            <a:r>
              <a:rPr lang="en-US" sz="950" b="1" dirty="0">
                <a:solidFill>
                  <a:srgbClr val="625B6D"/>
                </a:solidFill>
                <a:latin typeface="Montserrat"/>
              </a:rPr>
              <a:t>Dark outline: </a:t>
            </a:r>
            <a:r>
              <a:rPr lang="en-US" sz="950" dirty="0">
                <a:solidFill>
                  <a:srgbClr val="625B6D"/>
                </a:solidFill>
                <a:latin typeface="Montserrat"/>
              </a:rPr>
              <a:t>synthetic boundary. </a:t>
            </a:r>
            <a:r>
              <a:rPr lang="en-US" sz="950" b="1" dirty="0">
                <a:solidFill>
                  <a:srgbClr val="625B6D"/>
                </a:solidFill>
                <a:latin typeface="Montserrat"/>
              </a:rPr>
              <a:t>Darker purple: </a:t>
            </a:r>
            <a:r>
              <a:rPr lang="en-US" sz="950" dirty="0">
                <a:solidFill>
                  <a:srgbClr val="625B6D"/>
                </a:solidFill>
                <a:latin typeface="Montserrat"/>
              </a:rPr>
              <a:t>more places.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237" y="308721"/>
            <a:ext cx="7351779" cy="516930"/>
          </a:xfrm>
        </p:spPr>
        <p:txBody>
          <a:bodyPr/>
          <a:lstStyle/>
          <a:p>
            <a:r>
              <a:rPr lang="en-US" sz="2500" dirty="0"/>
              <a:t>Travel time sensitivity decay</a:t>
            </a:r>
            <a:endParaRPr sz="2500" dirty="0"/>
          </a:p>
        </p:txBody>
      </p:sp>
      <p:pic>
        <p:nvPicPr>
          <p:cNvPr id="3" name="Picture 2" descr="gamma_by_function_external_curve_calib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174351"/>
            <a:ext cx="5577840" cy="25660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nsitivity_equation">
                <a:extLst>
                  <a:ext uri="{FF2B5EF4-FFF2-40B4-BE49-F238E27FC236}">
                    <a16:creationId xmlns:a16="http://schemas.microsoft.com/office/drawing/2014/main" id="{B0123BAB-72C9-4DFB-B940-00A312DF02F6}"/>
                  </a:ext>
                </a:extLst>
              </p:cNvPr>
              <p:cNvSpPr txBox="1">
                <a:spLocks noGrp="1"/>
              </p:cNvSpPr>
              <p:nvPr/>
            </p:nvSpPr>
            <p:spPr>
              <a:xfrm>
                <a:off x="1623060" y="4089143"/>
                <a:ext cx="589788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𝑜𝑑</m:t>
                          </m:r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  <m:sup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sz="1850">
                          <a:solidFill>
                            <a:srgbClr val="57068C"/>
                          </a:solidFill>
                          <a:latin typeface="Cambria Math"/>
                        </a:rPr>
                        <m:t> = </m:t>
                      </m:r>
                      <m:r>
                        <a:rPr sz="1850">
                          <a:solidFill>
                            <a:srgbClr val="57068C"/>
                          </a:solidFill>
                          <a:latin typeface="Cambria Math"/>
                        </a:rPr>
                        <m:t>𝛾</m:t>
                      </m:r>
                      <m:nary>
                        <m:naryPr>
                          <m:chr m:val="∑"/>
                          <m:limLoc m:val="subSup"/>
                          <m:ctrlP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</m:ctrlPr>
                        </m:naryPr>
                        <m:sub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𝑘</m:t>
                          </m:r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∈</m:t>
                          </m:r>
                          <m:r>
                            <a:rPr sz="1850">
                              <a:solidFill>
                                <a:srgbClr val="57068C"/>
                              </a:solidFill>
                              <a:latin typeface="Cambria Math"/>
                            </a:rPr>
                            <m:t>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  <m:t>𝑑</m:t>
                              </m:r>
                              <m: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  <m:t>,</m:t>
                              </m:r>
                              <m: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  <m:t>0.5 + 0.5 </m:t>
                              </m:r>
                              <m:r>
                                <m:rPr>
                                  <m:sty m:val="p"/>
                                </m:rPr>
                                <a:rPr sz="1850">
                                  <a:solidFill>
                                    <a:srgbClr val="57068C"/>
                                  </a:solidFill>
                                  <a:latin typeface="Cambria Math"/>
                                </a:rPr>
                                <m:t>exp</m:t>
                              </m:r>
                              <m:d>
                                <m:dPr>
                                  <m:ctrlPr>
                                    <a:rPr sz="1850">
                                      <a:solidFill>
                                        <a:srgbClr val="57068C"/>
                                      </a:solidFill>
                                      <a:latin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sz="1850">
                                      <a:solidFill>
                                        <a:srgbClr val="57068C"/>
                                      </a:solidFill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𝑜𝑑</m:t>
                                      </m:r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,</m:t>
                                      </m:r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𝑡</m:t>
                                      </m:r>
                                      <m:r>
                                        <a:rPr sz="1850">
                                          <a:solidFill>
                                            <a:srgbClr val="57068C"/>
                                          </a:solidFill>
                                          <a:latin typeface="Cambria Math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sz="1850" dirty="0"/>
              </a:p>
            </p:txBody>
          </p:sp>
        </mc:Choice>
        <mc:Fallback xmlns="">
          <p:sp>
            <p:nvSpPr>
              <p:cNvPr id="4" name="sensitivity_equation">
                <a:extLst>
                  <a:ext uri="{FF2B5EF4-FFF2-40B4-BE49-F238E27FC236}">
                    <a16:creationId xmlns:a16="http://schemas.microsoft.com/office/drawing/2014/main" id="{B0123BAB-72C9-4DFB-B940-00A312DF02F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60" y="4089143"/>
                <a:ext cx="5897880" cy="457200"/>
              </a:xfrm>
              <a:prstGeom prst="rect">
                <a:avLst/>
              </a:prstGeom>
              <a:blipFill>
                <a:blip r:embed="rId3"/>
                <a:stretch>
                  <a:fillRect b="-173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237" y="308721"/>
            <a:ext cx="7351779" cy="516930"/>
          </a:xfrm>
        </p:spPr>
        <p:txBody>
          <a:bodyPr/>
          <a:lstStyle/>
          <a:p>
            <a:r>
              <a:rPr lang="en-US" sz="2500" dirty="0"/>
              <a:t>Travel time sensitivity decay</a:t>
            </a:r>
            <a:endParaRPr sz="2500" dirty="0"/>
          </a:p>
        </p:txBody>
      </p:sp>
      <p:pic>
        <p:nvPicPr>
          <p:cNvPr id="3" name="Gamma animation" descr="Gamma animation">
            <a:extLst>
              <a:ext uri="{FF2B5EF4-FFF2-40B4-BE49-F238E27FC236}">
                <a16:creationId xmlns:a16="http://schemas.microsoft.com/office/drawing/2014/main" id="{24334114-58CD-48E3-AD11-1722F57C2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6200" y="962025"/>
            <a:ext cx="4343400" cy="3591658"/>
          </a:xfrm>
          <a:prstGeom prst="rect">
            <a:avLst/>
          </a:prstGeom>
        </p:spPr>
      </p:pic>
      <p:pic>
        <p:nvPicPr>
          <p:cNvPr id="4" name="OD recovery" descr="OD recovery">
            <a:extLst>
              <a:ext uri="{FF2B5EF4-FFF2-40B4-BE49-F238E27FC236}">
                <a16:creationId xmlns:a16="http://schemas.microsoft.com/office/drawing/2014/main" id="{E97154FE-7D02-4A1F-A2C5-C1CF0430F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38650" y="1895475"/>
            <a:ext cx="4572000" cy="16177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2F2803E-5A58-6C0F-B97B-E49D37E22BD3}"/>
              </a:ext>
            </a:extLst>
          </p:cNvPr>
          <p:cNvSpPr txBox="1"/>
          <p:nvPr/>
        </p:nvSpPr>
        <p:spPr>
          <a:xfrm>
            <a:off x="5382701" y="3513260"/>
            <a:ext cx="3140814" cy="146194"/>
          </a:xfrm>
          <a:prstGeom prst="rect">
            <a:avLst/>
          </a:prstGeom>
          <a:noFill/>
        </p:spPr>
        <p:txBody>
          <a:bodyPr wrap="square" lIns="13716" tIns="0" rIns="13716" bIns="0" anchor="ctr">
            <a:spAutoFit/>
          </a:bodyPr>
          <a:lstStyle/>
          <a:p>
            <a:r>
              <a:rPr lang="en-US" sz="950" dirty="0">
                <a:solidFill>
                  <a:srgbClr val="625B6D"/>
                </a:solidFill>
                <a:latin typeface="Montserrat"/>
              </a:rPr>
              <a:t>Use flow-prioritized rule strategy as an example.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YU Elegant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3DFE9"/>
      </a:lt2>
      <a:accent1>
        <a:srgbClr val="9A6ABA"/>
      </a:accent1>
      <a:accent2>
        <a:srgbClr val="330662"/>
      </a:accent2>
      <a:accent3>
        <a:srgbClr val="007E8A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YU Elegant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3DFE9"/>
      </a:lt2>
      <a:accent1>
        <a:srgbClr val="9A6ABA"/>
      </a:accent1>
      <a:accent2>
        <a:srgbClr val="330662"/>
      </a:accent2>
      <a:accent3>
        <a:srgbClr val="007E8A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3736</TotalTime>
  <Words>204</Words>
  <Application>Microsoft Macintosh PowerPoint</Application>
  <DocSecurity>0</DocSecurity>
  <PresentationFormat>On-screen Show (16:9)</PresentationFormat>
  <Paragraphs>33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Cambria Math</vt:lpstr>
      <vt:lpstr>Arial</vt:lpstr>
      <vt:lpstr>Montserrat</vt:lpstr>
      <vt:lpstr>Frank Ruhl Libre</vt:lpstr>
      <vt:lpstr>NYU Elegant</vt:lpstr>
      <vt:lpstr>Formulation</vt:lpstr>
      <vt:lpstr>POIs around OD nodes</vt:lpstr>
      <vt:lpstr>Travel time sensitivity decay</vt:lpstr>
      <vt:lpstr>Travel time sensitivity decay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Xiyu Pan</cp:lastModifiedBy>
  <cp:revision>116</cp:revision>
  <dcterms:created xsi:type="dcterms:W3CDTF">2026-09-19T22:46:05Z</dcterms:created>
  <dcterms:modified xsi:type="dcterms:W3CDTF">2026-10-14T18:00:15Z</dcterms:modified>
</cp:coreProperties>
</file>