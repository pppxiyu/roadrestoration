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71" r:id="rId2"/>
    <p:sldId id="273" r:id="rId3"/>
    <p:sldId id="274" r:id="rId4"/>
    <p:sldId id="275" r:id="rId5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7"/>
    </p:embeddedFont>
    <p:embeddedFont>
      <p:font typeface="Frank Ruhl Libre" panose="00000500000000000000" pitchFamily="2" charset="-79"/>
      <p:regular r:id="rId8"/>
      <p:bold r:id="rId9"/>
    </p:embeddedFont>
    <p:embeddedFont>
      <p:font typeface="Montserrat" panose="00000500000000000000" pitchFamily="2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1"/>
    <p:restoredTop sz="96266"/>
  </p:normalViewPr>
  <p:slideViewPr>
    <p:cSldViewPr snapToGrid="0">
      <p:cViewPr varScale="1">
        <p:scale>
          <a:sx n="146" d="100"/>
          <a:sy n="146" d="100"/>
        </p:scale>
        <p:origin x="6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35066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48144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7187499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>
            <a:extLst>
              <a:ext uri="{FF2B5EF4-FFF2-40B4-BE49-F238E27FC236}">
                <a16:creationId xmlns:a16="http://schemas.microsoft.com/office/drawing/2014/main" id="{317548E4-72D8-4C10-837B-535477237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87970"/>
            <a:ext cx="4945500" cy="11373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800"/>
              <a:buNone/>
              <a:defRPr sz="4800">
                <a:solidFill>
                  <a:srgbClr val="57068C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>
            <a:extLst>
              <a:ext uri="{FF2B5EF4-FFF2-40B4-BE49-F238E27FC236}">
                <a16:creationId xmlns:a16="http://schemas.microsoft.com/office/drawing/2014/main" id="{58F38DA4-1D07-4695-BD4D-B802FC209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467949"/>
            <a:ext cx="3999900" cy="1807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0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6">
            <a:extLst>
              <a:ext uri="{FF2B5EF4-FFF2-40B4-BE49-F238E27FC236}">
                <a16:creationId xmlns:a16="http://schemas.microsoft.com/office/drawing/2014/main" id="{C9D165CC-2FF2-44B3-B8EE-1670D65F631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619925" y="2467949"/>
            <a:ext cx="3999900" cy="1807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0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43" name="Google Shape;34;p6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ln>
            <a:noFill/>
          </a:ln>
        </p:spPr>
      </p:pic>
      <p:sp>
        <p:nvSpPr>
          <p:cNvPr id="35" name="Google Shape;35;p6">
            <a:extLst>
              <a:ext uri="{FF2B5EF4-FFF2-40B4-BE49-F238E27FC236}">
                <a16:creationId xmlns:a16="http://schemas.microsoft.com/office/drawing/2014/main" id="{4F05DFD4-8044-4188-96B5-0183887DE64A}"/>
              </a:ext>
            </a:extLst>
          </p:cNvPr>
          <p:cNvSpPr>
            <a:spLocks noGrp="1"/>
          </p:cNvSpPr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6" name="Google Shape;36;p6">
            <a:extLst>
              <a:ext uri="{FF2B5EF4-FFF2-40B4-BE49-F238E27FC236}">
                <a16:creationId xmlns:a16="http://schemas.microsoft.com/office/drawing/2014/main" id="{0E621BDC-4A8E-4A48-AF8F-A0891213204C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311700" y="2054620"/>
            <a:ext cx="3999900" cy="411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dk1"/>
                </a:solidFill>
              </a:defRPr>
            </a:lvl1pPr>
            <a:lvl2pPr>
              <a:spcBef>
                <a:spcPts val="1600"/>
              </a:spcBef>
              <a:spcAft>
                <a:spcPts val="0"/>
              </a:spcAft>
              <a:buNone/>
              <a:defRPr/>
            </a:lvl2pPr>
            <a:lvl3pPr>
              <a:spcBef>
                <a:spcPts val="1600"/>
              </a:spcBef>
              <a:spcAft>
                <a:spcPts val="0"/>
              </a:spcAft>
              <a:buNone/>
              <a:defRPr/>
            </a:lvl3pPr>
            <a:lvl4pPr>
              <a:spcBef>
                <a:spcPts val="1600"/>
              </a:spcBef>
              <a:spcAft>
                <a:spcPts val="0"/>
              </a:spcAft>
              <a:buNone/>
              <a:defRPr/>
            </a:lvl4pPr>
            <a:lvl5pPr>
              <a:spcBef>
                <a:spcPts val="1600"/>
              </a:spcBef>
              <a:spcAft>
                <a:spcPts val="0"/>
              </a:spcAft>
              <a:buNone/>
              <a:defRPr/>
            </a:lvl5pPr>
            <a:lvl6pPr>
              <a:spcBef>
                <a:spcPts val="1600"/>
              </a:spcBef>
              <a:spcAft>
                <a:spcPts val="0"/>
              </a:spcAft>
              <a:buNone/>
              <a:defRPr/>
            </a:lvl6pPr>
            <a:lvl7pPr>
              <a:spcBef>
                <a:spcPts val="1600"/>
              </a:spcBef>
              <a:spcAft>
                <a:spcPts val="0"/>
              </a:spcAft>
              <a:buNone/>
              <a:defRPr/>
            </a:lvl7pPr>
            <a:lvl8pPr>
              <a:spcBef>
                <a:spcPts val="1600"/>
              </a:spcBef>
              <a:spcAft>
                <a:spcPts val="0"/>
              </a:spcAft>
              <a:buNone/>
              <a:defRPr/>
            </a:lvl8pPr>
            <a:lvl9pPr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>
            <a:extLst>
              <a:ext uri="{FF2B5EF4-FFF2-40B4-BE49-F238E27FC236}">
                <a16:creationId xmlns:a16="http://schemas.microsoft.com/office/drawing/2014/main" id="{55CE5AB5-2AA1-495F-8628-D9BB5CAEAD0F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619925" y="2054620"/>
            <a:ext cx="3999900" cy="411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dk1"/>
                </a:solidFill>
              </a:defRPr>
            </a:lvl1pPr>
            <a:lvl2pPr>
              <a:spcBef>
                <a:spcPts val="1600"/>
              </a:spcBef>
              <a:spcAft>
                <a:spcPts val="0"/>
              </a:spcAft>
              <a:buNone/>
              <a:defRPr/>
            </a:lvl2pPr>
            <a:lvl3pPr>
              <a:spcBef>
                <a:spcPts val="1600"/>
              </a:spcBef>
              <a:spcAft>
                <a:spcPts val="0"/>
              </a:spcAft>
              <a:buNone/>
              <a:defRPr/>
            </a:lvl3pPr>
            <a:lvl4pPr>
              <a:spcBef>
                <a:spcPts val="1600"/>
              </a:spcBef>
              <a:spcAft>
                <a:spcPts val="0"/>
              </a:spcAft>
              <a:buNone/>
              <a:defRPr/>
            </a:lvl4pPr>
            <a:lvl5pPr>
              <a:spcBef>
                <a:spcPts val="1600"/>
              </a:spcBef>
              <a:spcAft>
                <a:spcPts val="0"/>
              </a:spcAft>
              <a:buNone/>
              <a:defRPr/>
            </a:lvl5pPr>
            <a:lvl6pPr>
              <a:spcBef>
                <a:spcPts val="1600"/>
              </a:spcBef>
              <a:spcAft>
                <a:spcPts val="0"/>
              </a:spcAft>
              <a:buNone/>
              <a:defRPr/>
            </a:lvl6pPr>
            <a:lvl7pPr>
              <a:spcBef>
                <a:spcPts val="1600"/>
              </a:spcBef>
              <a:spcAft>
                <a:spcPts val="0"/>
              </a:spcAft>
              <a:buNone/>
              <a:defRPr/>
            </a:lvl7pPr>
            <a:lvl8pPr>
              <a:spcBef>
                <a:spcPts val="1600"/>
              </a:spcBef>
              <a:spcAft>
                <a:spcPts val="0"/>
              </a:spcAft>
              <a:buNone/>
              <a:defRPr/>
            </a:lvl8pPr>
            <a:lvl9pPr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47" name="Google Shape;38;p6"/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70D0815C-BC8C-4C7F-A00D-D7B5D9CCA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688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Frank Ruhl Libre"/>
              <a:buNone/>
              <a:defRPr sz="3600" b="1">
                <a:solidFill>
                  <a:srgbClr val="57068C"/>
                </a:solidFill>
                <a:latin typeface="Frank Ruhl Libre"/>
                <a:ea typeface="Frank Ruhl Libre"/>
                <a:cs typeface="Frank Ruhl Libre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D288D575-293F-476A-A573-D3045C43B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>
                <a:solidFill>
                  <a:srgbClr val="333333"/>
                </a:solidFill>
                <a:latin typeface="Montserrat"/>
                <a:ea typeface="Montserrat"/>
                <a:cs typeface="Montserrat"/>
              </a:defRPr>
            </a:lvl1pPr>
            <a:lvl2pPr marL="9144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</a:defRPr>
            </a:lvl2pPr>
            <a:lvl3pPr marL="13716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</a:defRPr>
            </a:lvl3pPr>
            <a:lvl4pPr marL="18288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</a:defRPr>
            </a:lvl4pPr>
            <a:lvl5pPr marL="22860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</a:defRPr>
            </a:lvl5pPr>
            <a:lvl6pPr marL="27432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</a:defRPr>
            </a:lvl6pPr>
            <a:lvl7pPr marL="32004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</a:defRPr>
            </a:lvl7pPr>
            <a:lvl8pPr marL="3657600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</a:defRPr>
            </a:lvl8pPr>
            <a:lvl9pPr marL="4114800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5B20D2-F486-E5BA-524E-4B099206B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366" y="2862541"/>
            <a:ext cx="4363961" cy="1541144"/>
          </a:xfrm>
          <a:prstGeom prst="rect">
            <a:avLst/>
          </a:prstGeom>
        </p:spPr>
      </p:pic>
      <p:sp>
        <p:nvSpPr>
          <p:cNvPr id="2" name="fixed_point_label">
            <a:extLst>
              <a:ext uri="{FF2B5EF4-FFF2-40B4-BE49-F238E27FC236}">
                <a16:creationId xmlns:a16="http://schemas.microsoft.com/office/drawing/2014/main" id="{94A7D86D-66C3-17AD-C153-3AD63E7005C0}"/>
              </a:ext>
            </a:extLst>
          </p:cNvPr>
          <p:cNvSpPr txBox="1"/>
          <p:nvPr/>
        </p:nvSpPr>
        <p:spPr>
          <a:xfrm>
            <a:off x="5788614" y="1557777"/>
            <a:ext cx="2206512" cy="57263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lang="en-US"/>
            </a:defPPr>
            <a:lvl1pPr algn="ctr">
              <a:buNone/>
              <a:defRPr sz="1275" b="1">
                <a:solidFill>
                  <a:srgbClr val="625B6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rPr lang="en-US" altLang="zh-CN" sz="1200" b="0" dirty="0"/>
              <a:t>Recovers in 70 days</a:t>
            </a:r>
            <a:endParaRPr lang="en-US" sz="1200" b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2FDCE4-0E94-2599-E3F0-BE314BDAF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37" y="308721"/>
            <a:ext cx="8684192" cy="516930"/>
          </a:xfrm>
        </p:spPr>
        <p:txBody>
          <a:bodyPr/>
          <a:lstStyle/>
          <a:p>
            <a:r>
              <a:rPr lang="en-US" sz="2500" dirty="0"/>
              <a:t>E</a:t>
            </a:r>
            <a:r>
              <a:rPr lang="en-US" sz="2500"/>
              <a:t>ndogenous </a:t>
            </a:r>
            <a:r>
              <a:rPr lang="en-US" sz="2500" dirty="0"/>
              <a:t>human behavior vs external recovery speed</a:t>
            </a:r>
          </a:p>
        </p:txBody>
      </p:sp>
      <p:sp>
        <p:nvSpPr>
          <p:cNvPr id="8" name="fixed_point_label">
            <a:extLst>
              <a:ext uri="{FF2B5EF4-FFF2-40B4-BE49-F238E27FC236}">
                <a16:creationId xmlns:a16="http://schemas.microsoft.com/office/drawing/2014/main" id="{47B9E4BA-EECB-6A34-8D99-439FE9FD16ED}"/>
              </a:ext>
            </a:extLst>
          </p:cNvPr>
          <p:cNvSpPr txBox="1"/>
          <p:nvPr/>
        </p:nvSpPr>
        <p:spPr>
          <a:xfrm>
            <a:off x="5788614" y="3346794"/>
            <a:ext cx="2206512" cy="57263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lang="en-US"/>
            </a:defPPr>
            <a:lvl1pPr algn="ctr">
              <a:buNone/>
              <a:defRPr sz="1275" b="1">
                <a:solidFill>
                  <a:srgbClr val="625B6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rPr lang="en-US" altLang="zh-CN" sz="1200" b="0" dirty="0"/>
              <a:t>Recovers in 35 days</a:t>
            </a:r>
            <a:endParaRPr lang="en-US" sz="1200" b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93D529-B096-6B1A-E964-DAAE5A2A3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366" y="1154703"/>
            <a:ext cx="4368000" cy="1541144"/>
          </a:xfrm>
          <a:prstGeom prst="rect">
            <a:avLst/>
          </a:prstGeom>
        </p:spPr>
      </p:pic>
      <p:sp>
        <p:nvSpPr>
          <p:cNvPr id="5" name="fixed_point_label">
            <a:extLst>
              <a:ext uri="{FF2B5EF4-FFF2-40B4-BE49-F238E27FC236}">
                <a16:creationId xmlns:a16="http://schemas.microsoft.com/office/drawing/2014/main" id="{CE2F1D48-04B3-2569-4ADD-07AC73BD2CDF}"/>
              </a:ext>
            </a:extLst>
          </p:cNvPr>
          <p:cNvSpPr txBox="1"/>
          <p:nvPr/>
        </p:nvSpPr>
        <p:spPr>
          <a:xfrm>
            <a:off x="1318329" y="4650113"/>
            <a:ext cx="5380854" cy="3693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algn="ctr">
              <a:buNone/>
              <a:defRPr sz="1275" b="1">
                <a:solidFill>
                  <a:srgbClr val="625B6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l"/>
            <a:r>
              <a:rPr lang="en-US" altLang="zh-CN" sz="1200" dirty="0"/>
              <a:t>NOTE: </a:t>
            </a:r>
            <a:r>
              <a:rPr lang="en-US" altLang="zh-CN" sz="1200" b="0" dirty="0"/>
              <a:t>The curve should recover to 1. It has been revised in the codes. Just haven’t updated the pictures in this slides.</a:t>
            </a:r>
            <a:endParaRPr 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1793260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C2037-9A13-883A-C55B-299117ACC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37" y="308721"/>
            <a:ext cx="7351779" cy="516930"/>
          </a:xfrm>
        </p:spPr>
        <p:txBody>
          <a:bodyPr/>
          <a:lstStyle/>
          <a:p>
            <a:r>
              <a:rPr lang="en-US" altLang="zh-CN" sz="2500" dirty="0"/>
              <a:t>Smoothed version</a:t>
            </a:r>
            <a:endParaRPr lang="en-US" sz="2500" dirty="0"/>
          </a:p>
        </p:txBody>
      </p:sp>
      <p:sp>
        <p:nvSpPr>
          <p:cNvPr id="10" name="fixed_point_equation">
            <a:extLst>
              <a:ext uri="{FF2B5EF4-FFF2-40B4-BE49-F238E27FC236}">
                <a16:creationId xmlns:a16="http://schemas.microsoft.com/office/drawing/2014/main" id="{5EC28BAB-A012-D555-C662-94C644399CDB}"/>
              </a:ext>
            </a:extLst>
          </p:cNvPr>
          <p:cNvSpPr txBox="1"/>
          <p:nvPr/>
        </p:nvSpPr>
        <p:spPr>
          <a:xfrm>
            <a:off x="1927906" y="880325"/>
            <a:ext cx="5557110" cy="2794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dirty="0">
                <a:solidFill>
                  <a:srgbClr val="660099"/>
                </a:solidFill>
                <a:latin typeface="Cambria Math" panose="02040503050406030204" pitchFamily="18" charset="0"/>
              </a:rPr>
              <a:t>𝑞ₜ = 𝑞ₜᵉˣᵗᵉʳⁿᵃˡ </a:t>
            </a:r>
            <a:r>
              <a:rPr lang="en-US" b="1" dirty="0">
                <a:solidFill>
                  <a:srgbClr val="D05A32"/>
                </a:solidFill>
                <a:latin typeface="Cambria Math" panose="02040503050406030204" pitchFamily="18" charset="0"/>
              </a:rPr>
              <a:t>+ Hₜ + wₜ</a:t>
            </a:r>
            <a:r>
              <a:rPr lang="el-GR" dirty="0">
                <a:solidFill>
                  <a:srgbClr val="660099"/>
                </a:solidFill>
                <a:latin typeface="Cambria Math" panose="02040503050406030204" pitchFamily="18" charset="0"/>
              </a:rPr>
              <a:t> 𝑞</a:t>
            </a:r>
            <a:r>
              <a:rPr lang="en-US" dirty="0">
                <a:solidFill>
                  <a:srgbClr val="660099"/>
                </a:solidFill>
                <a:latin typeface="Cambria Math" panose="02040503050406030204" pitchFamily="18" charset="0"/>
              </a:rPr>
              <a:t>ₜᵉˣᵗᵉ</a:t>
            </a:r>
            <a:r>
              <a:rPr lang="en-US" dirty="0" err="1">
                <a:solidFill>
                  <a:srgbClr val="660099"/>
                </a:solidFill>
                <a:latin typeface="Cambria Math" panose="02040503050406030204" pitchFamily="18" charset="0"/>
              </a:rPr>
              <a:t>ʳ</a:t>
            </a:r>
            <a:r>
              <a:rPr lang="en-US" dirty="0">
                <a:solidFill>
                  <a:srgbClr val="660099"/>
                </a:solidFill>
                <a:latin typeface="Cambria Math" panose="02040503050406030204" pitchFamily="18" charset="0"/>
              </a:rPr>
              <a:t>ⁿᵃˡ · [exp(−𝛾 </a:t>
            </a:r>
            <a:r>
              <a:rPr lang="el-GR" dirty="0">
                <a:solidFill>
                  <a:srgbClr val="660099"/>
                </a:solidFill>
                <a:latin typeface="Cambria Math" panose="02040503050406030204" pitchFamily="18" charset="0"/>
              </a:rPr>
              <a:t>Δ𝑐</a:t>
            </a:r>
            <a:r>
              <a:rPr lang="en-US" dirty="0">
                <a:solidFill>
                  <a:srgbClr val="660099"/>
                </a:solidFill>
                <a:latin typeface="Cambria Math" panose="02040503050406030204" pitchFamily="18" charset="0"/>
              </a:rPr>
              <a:t>ₜ(𝑞ₜ)) − 1]</a:t>
            </a:r>
          </a:p>
        </p:txBody>
      </p:sp>
      <p:sp>
        <p:nvSpPr>
          <p:cNvPr id="5" name="fixed_point_label">
            <a:extLst>
              <a:ext uri="{FF2B5EF4-FFF2-40B4-BE49-F238E27FC236}">
                <a16:creationId xmlns:a16="http://schemas.microsoft.com/office/drawing/2014/main" id="{EFC00BE0-AA29-7CF3-A95B-F77FF7F87DF6}"/>
              </a:ext>
            </a:extLst>
          </p:cNvPr>
          <p:cNvSpPr txBox="1"/>
          <p:nvPr/>
        </p:nvSpPr>
        <p:spPr>
          <a:xfrm>
            <a:off x="1927906" y="3986176"/>
            <a:ext cx="55571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pPr algn="just"/>
            <a:r>
              <a:rPr lang="en-US" sz="1000" dirty="0">
                <a:solidFill>
                  <a:srgbClr val="625B6D"/>
                </a:solidFill>
                <a:latin typeface="Montserrat"/>
              </a:rPr>
              <a:t>The share realized u days after a change is </a:t>
            </a:r>
            <a:r>
              <a:rPr lang="en-US" sz="1000" b="1" dirty="0">
                <a:solidFill>
                  <a:srgbClr val="625B6D"/>
                </a:solidFill>
                <a:latin typeface="Montserrat"/>
              </a:rPr>
              <a:t>1 − exp(−u/τ)</a:t>
            </a:r>
            <a:r>
              <a:rPr lang="en-US" sz="1000" dirty="0">
                <a:solidFill>
                  <a:srgbClr val="625B6D"/>
                </a:solidFill>
                <a:latin typeface="Montserrat"/>
              </a:rPr>
              <a:t>, where τ ≈ 2.34 days. With one-day time intervals, demand moves 34.82% toward its current target each day; </a:t>
            </a:r>
            <a:r>
              <a:rPr lang="en-US" sz="1000" b="1" dirty="0">
                <a:solidFill>
                  <a:srgbClr val="625B6D"/>
                </a:solidFill>
                <a:latin typeface="Montserrat"/>
              </a:rPr>
              <a:t>approximately 95% of a sustained change is realized within 7 days.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AC4658-2D6E-C584-F766-A04133006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435" y="1624105"/>
            <a:ext cx="5370217" cy="189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347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5B20D2-F486-E5BA-524E-4B099206B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603" y="916081"/>
            <a:ext cx="4545875" cy="160538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72FDCE4-0E94-2599-E3F0-BE314BDAF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37" y="308721"/>
            <a:ext cx="7351779" cy="516930"/>
          </a:xfrm>
        </p:spPr>
        <p:txBody>
          <a:bodyPr/>
          <a:lstStyle/>
          <a:p>
            <a:r>
              <a:rPr lang="en-US" sz="2500" dirty="0"/>
              <a:t>Endogenous human behavior decomposed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27A97A-B08D-4043-AA34-67C79757F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024" y="2662180"/>
            <a:ext cx="4625377" cy="2172599"/>
          </a:xfrm>
          <a:prstGeom prst="rect">
            <a:avLst/>
          </a:prstGeom>
        </p:spPr>
      </p:pic>
      <p:sp>
        <p:nvSpPr>
          <p:cNvPr id="10" name="fixed_point_label">
            <a:extLst>
              <a:ext uri="{FF2B5EF4-FFF2-40B4-BE49-F238E27FC236}">
                <a16:creationId xmlns:a16="http://schemas.microsoft.com/office/drawing/2014/main" id="{5EFA2347-0F8E-AF54-1049-94C09FC3B77E}"/>
              </a:ext>
            </a:extLst>
          </p:cNvPr>
          <p:cNvSpPr txBox="1"/>
          <p:nvPr/>
        </p:nvSpPr>
        <p:spPr>
          <a:xfrm>
            <a:off x="6050009" y="3112478"/>
            <a:ext cx="27098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pPr algn="just"/>
            <a:r>
              <a:rPr lang="en-US" sz="1000" b="1" dirty="0">
                <a:solidFill>
                  <a:srgbClr val="625B6D"/>
                </a:solidFill>
                <a:latin typeface="Montserrat"/>
              </a:rPr>
              <a:t>A: </a:t>
            </a:r>
            <a:r>
              <a:rPr lang="en-US" sz="1000" dirty="0">
                <a:solidFill>
                  <a:srgbClr val="625B6D"/>
                </a:solidFill>
                <a:latin typeface="Montserrat"/>
              </a:rPr>
              <a:t>Additional free-flow travel time caused by road damage</a:t>
            </a:r>
          </a:p>
          <a:p>
            <a:pPr algn="just"/>
            <a:r>
              <a:rPr lang="en-US" sz="1000" b="1" dirty="0">
                <a:solidFill>
                  <a:srgbClr val="625B6D"/>
                </a:solidFill>
                <a:latin typeface="Montserrat"/>
              </a:rPr>
              <a:t>B: </a:t>
            </a:r>
            <a:r>
              <a:rPr lang="en-US" sz="1000" dirty="0">
                <a:solidFill>
                  <a:srgbClr val="625B6D"/>
                </a:solidFill>
                <a:latin typeface="Montserrat"/>
              </a:rPr>
              <a:t>Congestion delay in the actual network</a:t>
            </a:r>
          </a:p>
          <a:p>
            <a:pPr algn="just"/>
            <a:r>
              <a:rPr lang="en-US" sz="1000" b="1" dirty="0">
                <a:solidFill>
                  <a:srgbClr val="625B6D"/>
                </a:solidFill>
                <a:latin typeface="Montserrat"/>
              </a:rPr>
              <a:t>C: </a:t>
            </a:r>
            <a:r>
              <a:rPr lang="en-US" sz="1000" dirty="0">
                <a:solidFill>
                  <a:srgbClr val="625B6D"/>
                </a:solidFill>
                <a:latin typeface="Montserrat"/>
              </a:rPr>
              <a:t>Congestion delay in the undamaged reference network</a:t>
            </a:r>
          </a:p>
          <a:p>
            <a:pPr algn="just"/>
            <a:r>
              <a:rPr lang="en-US" sz="1000" b="1" dirty="0">
                <a:solidFill>
                  <a:srgbClr val="625B6D"/>
                </a:solidFill>
                <a:latin typeface="Montserrat"/>
              </a:rPr>
              <a:t>Travel-time difference = A + B − C. </a:t>
            </a:r>
            <a:r>
              <a:rPr lang="en-US" sz="1000" dirty="0">
                <a:solidFill>
                  <a:srgbClr val="625B6D"/>
                </a:solidFill>
                <a:latin typeface="Montserrat"/>
              </a:rPr>
              <a:t>All three components are averaged using external OD demand as weights.</a:t>
            </a:r>
          </a:p>
        </p:txBody>
      </p:sp>
    </p:spTree>
    <p:extLst>
      <p:ext uri="{BB962C8B-B14F-4D97-AF65-F5344CB8AC3E}">
        <p14:creationId xmlns:p14="http://schemas.microsoft.com/office/powerpoint/2010/main" val="1671035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237" y="308721"/>
            <a:ext cx="7351779" cy="516930"/>
          </a:xfrm>
        </p:spPr>
        <p:txBody>
          <a:bodyPr/>
          <a:lstStyle/>
          <a:p>
            <a:r>
              <a:rPr sz="2500"/>
              <a:t>Mapped functions around Sioux Falls OD nodes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1005840"/>
            <a:ext cx="1581912" cy="18519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1751" y="3008376"/>
            <a:ext cx="1527048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1200" b="1">
                <a:solidFill>
                  <a:srgbClr val="5A3184"/>
                </a:solidFill>
                <a:latin typeface="Montserrat"/>
              </a:rPr>
              <a:t>Commercial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1" y="3328416"/>
            <a:ext cx="1527048" cy="5577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 algn="l"/>
            <a:r>
              <a:rPr sz="950" b="0">
                <a:solidFill>
                  <a:srgbClr val="625B6D"/>
                </a:solidFill>
                <a:latin typeface="Montserrat"/>
              </a:rPr>
              <a:t>Shops, offices, craft services, banks and markets.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6543" y="1005840"/>
            <a:ext cx="1581912" cy="18519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93975" y="3008376"/>
            <a:ext cx="1527048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1200" b="1">
                <a:solidFill>
                  <a:srgbClr val="5A3184"/>
                </a:solidFill>
                <a:latin typeface="Montserrat"/>
              </a:rPr>
              <a:t>Leisure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93975" y="3328416"/>
            <a:ext cx="1527048" cy="5577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 algn="l"/>
            <a:r>
              <a:rPr sz="950" b="0">
                <a:solidFill>
                  <a:srgbClr val="625B6D"/>
                </a:solidFill>
                <a:latin typeface="Montserrat"/>
              </a:rPr>
              <a:t>Dining, lodging, arts, sports and recreation.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58768" y="1005840"/>
            <a:ext cx="1581912" cy="18519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86200" y="3008376"/>
            <a:ext cx="1527048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1200" b="1">
                <a:solidFill>
                  <a:srgbClr val="5A3184"/>
                </a:solidFill>
                <a:latin typeface="Montserrat"/>
              </a:rPr>
              <a:t>Industrial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3328416"/>
            <a:ext cx="1527048" cy="5577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 algn="l"/>
            <a:r>
              <a:rPr sz="950" b="0">
                <a:solidFill>
                  <a:srgbClr val="625B6D"/>
                </a:solidFill>
                <a:latin typeface="Montserrat"/>
              </a:rPr>
              <a:t>Industrial facilities and warehouses; no land-use polygons.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0992" y="1005840"/>
            <a:ext cx="1581912" cy="18519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78424" y="3008376"/>
            <a:ext cx="1527048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1200" b="1">
                <a:solidFill>
                  <a:srgbClr val="5A3184"/>
                </a:solidFill>
                <a:latin typeface="Montserrat"/>
              </a:rPr>
              <a:t>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8424" y="3328416"/>
            <a:ext cx="1527048" cy="5577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 algn="l"/>
            <a:r>
              <a:rPr sz="950" b="0">
                <a:solidFill>
                  <a:srgbClr val="625B6D"/>
                </a:solidFill>
                <a:latin typeface="Montserrat"/>
              </a:rPr>
              <a:t>Medical, pharmacy and social-care facilities.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43216" y="1005840"/>
            <a:ext cx="1581912" cy="185199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70648" y="3008376"/>
            <a:ext cx="1527048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1200" b="1">
                <a:solidFill>
                  <a:srgbClr val="5A3184"/>
                </a:solidFill>
                <a:latin typeface="Montserrat"/>
              </a:rPr>
              <a:t>Public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0648" y="3328416"/>
            <a:ext cx="1527048" cy="557784"/>
          </a:xfrm>
          <a:prstGeom prst="rect">
            <a:avLst/>
          </a:prstGeom>
          <a:noFill/>
        </p:spPr>
        <p:txBody>
          <a:bodyPr wrap="square" lIns="13716" rIns="13716" tIns="0" bIns="0" anchor="t">
            <a:spAutoFit/>
          </a:bodyPr>
          <a:lstStyle/>
          <a:p>
            <a:pPr algn="l"/>
            <a:r>
              <a:rPr sz="950" b="0">
                <a:solidFill>
                  <a:srgbClr val="625B6D"/>
                </a:solidFill>
                <a:latin typeface="Montserrat"/>
              </a:rPr>
              <a:t>Schools, libraries, government and public-safety services.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" y="4114800"/>
            <a:ext cx="8723376" cy="10972"/>
          </a:xfrm>
          <a:prstGeom prst="rect">
            <a:avLst/>
          </a:prstGeom>
          <a:solidFill>
            <a:srgbClr val="DE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53312" y="4224528"/>
            <a:ext cx="7562088" cy="31089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950" b="0">
                <a:solidFill>
                  <a:srgbClr val="625B6D"/>
                </a:solidFill>
                <a:latin typeface="Montserrat"/>
              </a:rPr>
              <a:t>Boundary: 24 nearest-node areas inside a 1.25-km buffered node hull, clipped to Sioux Falls city limits.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4590288"/>
            <a:ext cx="7178040" cy="39319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900" b="0">
                <a:solidFill>
                  <a:srgbClr val="625B6D"/>
                </a:solidFill>
                <a:latin typeface="Montserrat"/>
              </a:rPr>
              <a:t>Orange: OpenStreetMap places. White circles: OD nodes. Dark outline: synthetic boundary. Darker purple: more places. Areas are not official traffic zones; counts are not jobs.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YU Elegant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3DFE9"/>
      </a:lt2>
      <a:accent1>
        <a:srgbClr val="9A6ABA"/>
      </a:accent1>
      <a:accent2>
        <a:srgbClr val="330662"/>
      </a:accent2>
      <a:accent3>
        <a:srgbClr val="007E8A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YU Elegant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3DFE9"/>
      </a:lt2>
      <a:accent1>
        <a:srgbClr val="9A6ABA"/>
      </a:accent1>
      <a:accent2>
        <a:srgbClr val="330662"/>
      </a:accent2>
      <a:accent3>
        <a:srgbClr val="007E8A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3654</TotalTime>
  <Words>281</Words>
  <Application>Microsoft Office PowerPoint</Application>
  <DocSecurity>0</DocSecurity>
  <PresentationFormat>On-screen Show (16:9)</PresentationFormat>
  <Paragraphs>25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Frank Ruhl Libre</vt:lpstr>
      <vt:lpstr>Montserrat</vt:lpstr>
      <vt:lpstr>Arial</vt:lpstr>
      <vt:lpstr>Cambria Math</vt:lpstr>
      <vt:lpstr>NYU Elegant</vt:lpstr>
      <vt:lpstr>Endogenous human behavior vs external recovery speed</vt:lpstr>
      <vt:lpstr>Smoothed version</vt:lpstr>
      <vt:lpstr>Endogenous human behavior decomposed</vt:lpstr>
      <vt:lpstr>Mapped functions around Sioux Falls OD nodes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Xiyu Pan</cp:lastModifiedBy>
  <cp:revision>96</cp:revision>
  <dcterms:created xsi:type="dcterms:W3CDTF">2026-09-19T22:46:05Z</dcterms:created>
  <dcterms:modified xsi:type="dcterms:W3CDTF">2026-10-12T21:56:15Z</dcterms:modified>
</cp:coreProperties>
</file>